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6" r:id="rId3"/>
    <p:sldId id="258" r:id="rId4"/>
    <p:sldId id="269" r:id="rId5"/>
    <p:sldId id="267" r:id="rId6"/>
    <p:sldId id="268" r:id="rId7"/>
    <p:sldId id="270" r:id="rId8"/>
    <p:sldId id="271" r:id="rId9"/>
    <p:sldId id="272" r:id="rId10"/>
    <p:sldId id="273" r:id="rId11"/>
    <p:sldId id="274" r:id="rId12"/>
    <p:sldId id="275" r:id="rId13"/>
    <p:sldId id="276"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ahmoud Safwat" initials="MS" lastIdx="1" clrIdx="0">
    <p:extLst>
      <p:ext uri="{19B8F6BF-5375-455C-9EA6-DF929625EA0E}">
        <p15:presenceInfo xmlns:p15="http://schemas.microsoft.com/office/powerpoint/2012/main" userId="Mahmoud Safwat"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983" autoAdjust="0"/>
    <p:restoredTop sz="94660"/>
  </p:normalViewPr>
  <p:slideViewPr>
    <p:cSldViewPr snapToGrid="0" snapToObjects="1">
      <p:cViewPr varScale="1">
        <p:scale>
          <a:sx n="80" d="100"/>
          <a:sy n="80" d="100"/>
        </p:scale>
        <p:origin x="1325"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11/30/2025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726372"/>
            <a:ext cx="7772400" cy="1405255"/>
          </a:xfrm>
          <a:ln>
            <a:noFill/>
          </a:ln>
        </p:spPr>
        <p:txBody>
          <a:bodyPr>
            <a:normAutofit fontScale="90000"/>
          </a:bodyPr>
          <a:lstStyle/>
          <a:p>
            <a:r>
              <a:rPr lang="en-US" b="1" dirty="0">
                <a:solidFill>
                  <a:srgbClr val="F95F88"/>
                </a:solidFill>
                <a:ea typeface="Petrona Bold" pitchFamily="34" charset="-122"/>
                <a:cs typeface="Petrona Bold" pitchFamily="34" charset="-120"/>
              </a:rPr>
              <a:t>Enterprise Network Design for Multi-National Company</a:t>
            </a:r>
            <a:br>
              <a:rPr lang="en-US" dirty="0"/>
            </a:br>
            <a:endParaRPr dirty="0"/>
          </a:p>
        </p:txBody>
      </p:sp>
      <p:pic>
        <p:nvPicPr>
          <p:cNvPr id="4" name="Picture 3">
            <a:extLst>
              <a:ext uri="{FF2B5EF4-FFF2-40B4-BE49-F238E27FC236}">
                <a16:creationId xmlns:a16="http://schemas.microsoft.com/office/drawing/2014/main" id="{AE12853D-51E0-EDC4-15E7-94CEC0118574}"/>
              </a:ext>
            </a:extLst>
          </p:cNvPr>
          <p:cNvPicPr>
            <a:picLocks noChangeAspect="1"/>
          </p:cNvPicPr>
          <p:nvPr/>
        </p:nvPicPr>
        <p:blipFill>
          <a:blip r:embed="rId2"/>
          <a:stretch>
            <a:fillRect/>
          </a:stretch>
        </p:blipFill>
        <p:spPr>
          <a:xfrm>
            <a:off x="0" y="0"/>
            <a:ext cx="9144000" cy="81799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88F66-45C8-542F-6E9C-D5E90C02902D}"/>
              </a:ext>
            </a:extLst>
          </p:cNvPr>
          <p:cNvSpPr>
            <a:spLocks noGrp="1"/>
          </p:cNvSpPr>
          <p:nvPr>
            <p:ph type="title"/>
          </p:nvPr>
        </p:nvSpPr>
        <p:spPr>
          <a:xfrm>
            <a:off x="381000" y="1122363"/>
            <a:ext cx="8229600" cy="1143000"/>
          </a:xfrm>
        </p:spPr>
        <p:txBody>
          <a:bodyPr/>
          <a:lstStyle/>
          <a:p>
            <a:r>
              <a:rPr lang="en-US" dirty="0"/>
              <a:t>Business Overview</a:t>
            </a:r>
          </a:p>
        </p:txBody>
      </p:sp>
      <p:sp>
        <p:nvSpPr>
          <p:cNvPr id="3" name="Content Placeholder 2">
            <a:extLst>
              <a:ext uri="{FF2B5EF4-FFF2-40B4-BE49-F238E27FC236}">
                <a16:creationId xmlns:a16="http://schemas.microsoft.com/office/drawing/2014/main" id="{CB99B4AF-DBAD-5439-B120-B719467E8816}"/>
              </a:ext>
            </a:extLst>
          </p:cNvPr>
          <p:cNvSpPr>
            <a:spLocks noGrp="1"/>
          </p:cNvSpPr>
          <p:nvPr>
            <p:ph idx="1"/>
          </p:nvPr>
        </p:nvSpPr>
        <p:spPr>
          <a:xfrm>
            <a:off x="457200" y="2381250"/>
            <a:ext cx="8229600" cy="3744913"/>
          </a:xfrm>
        </p:spPr>
        <p:txBody>
          <a:bodyPr/>
          <a:lstStyle/>
          <a:p>
            <a:pPr algn="just"/>
            <a:r>
              <a:rPr lang="en-US" dirty="0"/>
              <a:t>Goal: Reliable, scalable &amp; secure enterprise connectivity</a:t>
            </a:r>
          </a:p>
          <a:p>
            <a:pPr algn="just"/>
            <a:r>
              <a:rPr lang="en-US" dirty="0"/>
              <a:t>Supports branch offices, data center, and cloud apps</a:t>
            </a:r>
          </a:p>
        </p:txBody>
      </p:sp>
      <p:pic>
        <p:nvPicPr>
          <p:cNvPr id="5" name="Picture 4">
            <a:extLst>
              <a:ext uri="{FF2B5EF4-FFF2-40B4-BE49-F238E27FC236}">
                <a16:creationId xmlns:a16="http://schemas.microsoft.com/office/drawing/2014/main" id="{A10A63C1-5B40-B121-1FDA-5F39D0A4ED1B}"/>
              </a:ext>
            </a:extLst>
          </p:cNvPr>
          <p:cNvPicPr>
            <a:picLocks noChangeAspect="1"/>
          </p:cNvPicPr>
          <p:nvPr/>
        </p:nvPicPr>
        <p:blipFill>
          <a:blip r:embed="rId2"/>
          <a:stretch>
            <a:fillRect/>
          </a:stretch>
        </p:blipFill>
        <p:spPr>
          <a:xfrm>
            <a:off x="0" y="0"/>
            <a:ext cx="9144000" cy="817994"/>
          </a:xfrm>
          <a:prstGeom prst="rect">
            <a:avLst/>
          </a:prstGeom>
        </p:spPr>
      </p:pic>
    </p:spTree>
    <p:extLst>
      <p:ext uri="{BB962C8B-B14F-4D97-AF65-F5344CB8AC3E}">
        <p14:creationId xmlns:p14="http://schemas.microsoft.com/office/powerpoint/2010/main" val="9009986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50914"/>
            <a:ext cx="8229600" cy="588962"/>
          </a:xfrm>
        </p:spPr>
        <p:txBody>
          <a:bodyPr>
            <a:normAutofit fontScale="90000"/>
          </a:bodyPr>
          <a:lstStyle/>
          <a:p>
            <a:r>
              <a:rPr lang="en-US" dirty="0"/>
              <a:t>Diagram</a:t>
            </a:r>
            <a:endParaRPr dirty="0"/>
          </a:p>
        </p:txBody>
      </p:sp>
      <p:pic>
        <p:nvPicPr>
          <p:cNvPr id="13" name="Picture 12">
            <a:extLst>
              <a:ext uri="{FF2B5EF4-FFF2-40B4-BE49-F238E27FC236}">
                <a16:creationId xmlns:a16="http://schemas.microsoft.com/office/drawing/2014/main" id="{E0C75CC8-3055-A408-6CF9-7FA96B664CAB}"/>
              </a:ext>
            </a:extLst>
          </p:cNvPr>
          <p:cNvPicPr>
            <a:picLocks noChangeAspect="1"/>
          </p:cNvPicPr>
          <p:nvPr/>
        </p:nvPicPr>
        <p:blipFill>
          <a:blip r:embed="rId2"/>
          <a:stretch>
            <a:fillRect/>
          </a:stretch>
        </p:blipFill>
        <p:spPr>
          <a:xfrm>
            <a:off x="0" y="1885916"/>
            <a:ext cx="9144000" cy="4286284"/>
          </a:xfrm>
          <a:prstGeom prst="rect">
            <a:avLst/>
          </a:prstGeom>
        </p:spPr>
      </p:pic>
      <p:pic>
        <p:nvPicPr>
          <p:cNvPr id="4" name="Picture 3">
            <a:extLst>
              <a:ext uri="{FF2B5EF4-FFF2-40B4-BE49-F238E27FC236}">
                <a16:creationId xmlns:a16="http://schemas.microsoft.com/office/drawing/2014/main" id="{36D66A46-B6A1-4824-1999-1613A09233F8}"/>
              </a:ext>
            </a:extLst>
          </p:cNvPr>
          <p:cNvPicPr>
            <a:picLocks noChangeAspect="1"/>
          </p:cNvPicPr>
          <p:nvPr/>
        </p:nvPicPr>
        <p:blipFill>
          <a:blip r:embed="rId3"/>
          <a:stretch>
            <a:fillRect/>
          </a:stretch>
        </p:blipFill>
        <p:spPr>
          <a:xfrm>
            <a:off x="0" y="-40100"/>
            <a:ext cx="9144000" cy="81799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E5A8019-5757-7CDD-4630-0C4530924528}"/>
              </a:ext>
            </a:extLst>
          </p:cNvPr>
          <p:cNvSpPr txBox="1"/>
          <p:nvPr/>
        </p:nvSpPr>
        <p:spPr>
          <a:xfrm>
            <a:off x="401320" y="1283384"/>
            <a:ext cx="8493760" cy="1938992"/>
          </a:xfrm>
          <a:prstGeom prst="rect">
            <a:avLst/>
          </a:prstGeom>
          <a:noFill/>
        </p:spPr>
        <p:txBody>
          <a:bodyPr wrap="square" rtlCol="0">
            <a:spAutoFit/>
          </a:bodyPr>
          <a:lstStyle/>
          <a:p>
            <a:pPr algn="just"/>
            <a:r>
              <a:rPr lang="en-US" sz="2000" dirty="0"/>
              <a:t>The proposed architecture integrates two primary Headquarters (HQ1 in Egypt and HQ2 in Saudi Arabia) with multiple branch offices, all interconnected via secure links to ensure efficient data exchange and communication. The goal of this project is to design a scalable, secure, and highly available enterprise network capable of supporting multiple branches, centralized services, and external connectivity through multiple ISPs.</a:t>
            </a:r>
          </a:p>
        </p:txBody>
      </p:sp>
      <p:sp>
        <p:nvSpPr>
          <p:cNvPr id="4" name="Text 2">
            <a:extLst>
              <a:ext uri="{FF2B5EF4-FFF2-40B4-BE49-F238E27FC236}">
                <a16:creationId xmlns:a16="http://schemas.microsoft.com/office/drawing/2014/main" id="{C16A264A-F2DE-39A9-7E96-E6B8D9FEBB66}"/>
              </a:ext>
            </a:extLst>
          </p:cNvPr>
          <p:cNvSpPr/>
          <p:nvPr/>
        </p:nvSpPr>
        <p:spPr>
          <a:xfrm>
            <a:off x="401320" y="3859193"/>
            <a:ext cx="8493758" cy="672465"/>
          </a:xfrm>
          <a:prstGeom prst="rect">
            <a:avLst/>
          </a:prstGeom>
          <a:noFill/>
          <a:ln/>
        </p:spPr>
        <p:txBody>
          <a:bodyPr wrap="square" lIns="0" tIns="0" rIns="0" bIns="0" rtlCol="0" anchor="t"/>
          <a:lstStyle/>
          <a:p>
            <a:pPr marL="342900" indent="-342900" algn="l">
              <a:lnSpc>
                <a:spcPts val="2600"/>
              </a:lnSpc>
              <a:buSzPct val="100000"/>
              <a:buChar char="•"/>
            </a:pPr>
            <a:r>
              <a:rPr lang="en-US" sz="2000" b="1" dirty="0">
                <a:solidFill>
                  <a:srgbClr val="272525"/>
                </a:solidFill>
                <a:ea typeface="Inter" pitchFamily="34" charset="-122"/>
                <a:cs typeface="Inter" pitchFamily="34" charset="-120"/>
              </a:rPr>
              <a:t>HQ1 &amp; HQ2:</a:t>
            </a:r>
            <a:r>
              <a:rPr lang="en-US" sz="2000" dirty="0">
                <a:solidFill>
                  <a:srgbClr val="272525"/>
                </a:solidFill>
                <a:ea typeface="Inter" pitchFamily="34" charset="-122"/>
                <a:cs typeface="Inter" pitchFamily="34" charset="-120"/>
              </a:rPr>
              <a:t> Core network infrastructure, centralized services.</a:t>
            </a:r>
            <a:endParaRPr lang="en-US" sz="2000" dirty="0"/>
          </a:p>
        </p:txBody>
      </p:sp>
      <p:sp>
        <p:nvSpPr>
          <p:cNvPr id="5" name="Text 3">
            <a:extLst>
              <a:ext uri="{FF2B5EF4-FFF2-40B4-BE49-F238E27FC236}">
                <a16:creationId xmlns:a16="http://schemas.microsoft.com/office/drawing/2014/main" id="{D2D7685B-EECD-A6D9-A70D-FD53E46B2998}"/>
              </a:ext>
            </a:extLst>
          </p:cNvPr>
          <p:cNvSpPr/>
          <p:nvPr/>
        </p:nvSpPr>
        <p:spPr>
          <a:xfrm>
            <a:off x="401320" y="4605120"/>
            <a:ext cx="8493758" cy="672465"/>
          </a:xfrm>
          <a:prstGeom prst="rect">
            <a:avLst/>
          </a:prstGeom>
          <a:noFill/>
          <a:ln/>
        </p:spPr>
        <p:txBody>
          <a:bodyPr wrap="square" lIns="0" tIns="0" rIns="0" bIns="0" rtlCol="0" anchor="t"/>
          <a:lstStyle/>
          <a:p>
            <a:pPr marL="342900" indent="-342900" algn="l">
              <a:lnSpc>
                <a:spcPts val="2600"/>
              </a:lnSpc>
              <a:buSzPct val="100000"/>
              <a:buChar char="•"/>
            </a:pPr>
            <a:r>
              <a:rPr lang="en-US" sz="2000" b="1" dirty="0">
                <a:solidFill>
                  <a:srgbClr val="272525"/>
                </a:solidFill>
                <a:ea typeface="Inter" pitchFamily="34" charset="-122"/>
                <a:cs typeface="Inter" pitchFamily="34" charset="-120"/>
              </a:rPr>
              <a:t>Branch Offices:</a:t>
            </a:r>
            <a:r>
              <a:rPr lang="en-US" sz="2000" dirty="0">
                <a:solidFill>
                  <a:srgbClr val="272525"/>
                </a:solidFill>
                <a:ea typeface="Inter" pitchFamily="34" charset="-122"/>
                <a:cs typeface="Inter" pitchFamily="34" charset="-120"/>
              </a:rPr>
              <a:t> Local network access.</a:t>
            </a:r>
            <a:endParaRPr lang="en-US" sz="2000" dirty="0"/>
          </a:p>
        </p:txBody>
      </p:sp>
      <p:sp>
        <p:nvSpPr>
          <p:cNvPr id="6" name="Text 5">
            <a:extLst>
              <a:ext uri="{FF2B5EF4-FFF2-40B4-BE49-F238E27FC236}">
                <a16:creationId xmlns:a16="http://schemas.microsoft.com/office/drawing/2014/main" id="{4E04B2A3-4F86-3286-2A57-376A5416C9F3}"/>
              </a:ext>
            </a:extLst>
          </p:cNvPr>
          <p:cNvSpPr/>
          <p:nvPr/>
        </p:nvSpPr>
        <p:spPr>
          <a:xfrm>
            <a:off x="401320" y="5351047"/>
            <a:ext cx="8493758" cy="672465"/>
          </a:xfrm>
          <a:prstGeom prst="rect">
            <a:avLst/>
          </a:prstGeom>
          <a:noFill/>
          <a:ln/>
        </p:spPr>
        <p:txBody>
          <a:bodyPr wrap="square" lIns="0" tIns="0" rIns="0" bIns="0" rtlCol="0" anchor="t"/>
          <a:lstStyle/>
          <a:p>
            <a:pPr marL="342900" indent="-342900" algn="l">
              <a:lnSpc>
                <a:spcPts val="2600"/>
              </a:lnSpc>
              <a:buSzPct val="100000"/>
              <a:buChar char="•"/>
            </a:pPr>
            <a:r>
              <a:rPr lang="en-US" sz="2000" b="1" dirty="0">
                <a:solidFill>
                  <a:srgbClr val="272525"/>
                </a:solidFill>
                <a:ea typeface="Inter" pitchFamily="34" charset="-122"/>
                <a:cs typeface="Inter" pitchFamily="34" charset="-120"/>
              </a:rPr>
              <a:t>Wireless Access:</a:t>
            </a:r>
            <a:r>
              <a:rPr lang="en-US" sz="2000" dirty="0">
                <a:solidFill>
                  <a:srgbClr val="272525"/>
                </a:solidFill>
                <a:ea typeface="Inter" pitchFamily="34" charset="-122"/>
                <a:cs typeface="Inter" pitchFamily="34" charset="-120"/>
              </a:rPr>
              <a:t> Secure Wi-Fi deployment for user mobility.</a:t>
            </a:r>
            <a:endParaRPr lang="en-US" sz="2000" dirty="0"/>
          </a:p>
        </p:txBody>
      </p:sp>
      <p:pic>
        <p:nvPicPr>
          <p:cNvPr id="2" name="Picture 1">
            <a:extLst>
              <a:ext uri="{FF2B5EF4-FFF2-40B4-BE49-F238E27FC236}">
                <a16:creationId xmlns:a16="http://schemas.microsoft.com/office/drawing/2014/main" id="{8C8F1F09-58E0-A785-DDCC-B4CD8387EF12}"/>
              </a:ext>
            </a:extLst>
          </p:cNvPr>
          <p:cNvPicPr>
            <a:picLocks noChangeAspect="1"/>
          </p:cNvPicPr>
          <p:nvPr/>
        </p:nvPicPr>
        <p:blipFill>
          <a:blip r:embed="rId2"/>
          <a:stretch>
            <a:fillRect/>
          </a:stretch>
        </p:blipFill>
        <p:spPr>
          <a:xfrm>
            <a:off x="0" y="0"/>
            <a:ext cx="9144000" cy="817994"/>
          </a:xfrm>
          <a:prstGeom prst="rect">
            <a:avLst/>
          </a:prstGeom>
        </p:spPr>
      </p:pic>
    </p:spTree>
    <p:extLst>
      <p:ext uri="{BB962C8B-B14F-4D97-AF65-F5344CB8AC3E}">
        <p14:creationId xmlns:p14="http://schemas.microsoft.com/office/powerpoint/2010/main" val="10182970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93B36-1400-9002-82BB-210E10E030A9}"/>
              </a:ext>
            </a:extLst>
          </p:cNvPr>
          <p:cNvSpPr>
            <a:spLocks noGrp="1"/>
          </p:cNvSpPr>
          <p:nvPr>
            <p:ph type="title"/>
          </p:nvPr>
        </p:nvSpPr>
        <p:spPr>
          <a:xfrm>
            <a:off x="457200" y="817994"/>
            <a:ext cx="8229600" cy="1143000"/>
          </a:xfrm>
        </p:spPr>
        <p:txBody>
          <a:bodyPr/>
          <a:lstStyle/>
          <a:p>
            <a:r>
              <a:rPr lang="en-US" dirty="0"/>
              <a:t>Topology</a:t>
            </a:r>
          </a:p>
        </p:txBody>
      </p:sp>
      <p:pic>
        <p:nvPicPr>
          <p:cNvPr id="4" name="Picture 3">
            <a:extLst>
              <a:ext uri="{FF2B5EF4-FFF2-40B4-BE49-F238E27FC236}">
                <a16:creationId xmlns:a16="http://schemas.microsoft.com/office/drawing/2014/main" id="{6C7BCF95-390C-8C9C-FEA0-0622526822B0}"/>
              </a:ext>
            </a:extLst>
          </p:cNvPr>
          <p:cNvPicPr>
            <a:picLocks noChangeAspect="1"/>
          </p:cNvPicPr>
          <p:nvPr/>
        </p:nvPicPr>
        <p:blipFill>
          <a:blip r:embed="rId2"/>
          <a:srcRect l="13333" t="11704" r="10000" b="2682"/>
          <a:stretch>
            <a:fillRect/>
          </a:stretch>
        </p:blipFill>
        <p:spPr>
          <a:xfrm>
            <a:off x="457200" y="1971674"/>
            <a:ext cx="8229600" cy="4198937"/>
          </a:xfrm>
          <a:prstGeom prst="rect">
            <a:avLst/>
          </a:prstGeom>
        </p:spPr>
      </p:pic>
      <p:sp>
        <p:nvSpPr>
          <p:cNvPr id="3" name="Cloud 2">
            <a:extLst>
              <a:ext uri="{FF2B5EF4-FFF2-40B4-BE49-F238E27FC236}">
                <a16:creationId xmlns:a16="http://schemas.microsoft.com/office/drawing/2014/main" id="{A3C9737E-2941-86FC-CAA5-4B7418B9AD1D}"/>
              </a:ext>
            </a:extLst>
          </p:cNvPr>
          <p:cNvSpPr/>
          <p:nvPr/>
        </p:nvSpPr>
        <p:spPr>
          <a:xfrm>
            <a:off x="3393440" y="4459605"/>
            <a:ext cx="1742440" cy="807720"/>
          </a:xfrm>
          <a:prstGeom prst="cloud">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C82759A2-E79C-ACAD-8091-902BA2210C3B}"/>
              </a:ext>
            </a:extLst>
          </p:cNvPr>
          <p:cNvPicPr>
            <a:picLocks noChangeAspect="1"/>
          </p:cNvPicPr>
          <p:nvPr/>
        </p:nvPicPr>
        <p:blipFill>
          <a:blip r:embed="rId3"/>
          <a:stretch>
            <a:fillRect/>
          </a:stretch>
        </p:blipFill>
        <p:spPr>
          <a:xfrm>
            <a:off x="0" y="0"/>
            <a:ext cx="9144000" cy="817994"/>
          </a:xfrm>
          <a:prstGeom prst="rect">
            <a:avLst/>
          </a:prstGeom>
        </p:spPr>
      </p:pic>
    </p:spTree>
    <p:extLst>
      <p:ext uri="{BB962C8B-B14F-4D97-AF65-F5344CB8AC3E}">
        <p14:creationId xmlns:p14="http://schemas.microsoft.com/office/powerpoint/2010/main" val="2229004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2A606-83B8-3F6D-668E-80B05AD9D456}"/>
              </a:ext>
            </a:extLst>
          </p:cNvPr>
          <p:cNvSpPr>
            <a:spLocks noGrp="1"/>
          </p:cNvSpPr>
          <p:nvPr>
            <p:ph type="title"/>
          </p:nvPr>
        </p:nvSpPr>
        <p:spPr>
          <a:xfrm>
            <a:off x="457200" y="1010103"/>
            <a:ext cx="8229600" cy="1143000"/>
          </a:xfrm>
        </p:spPr>
        <p:txBody>
          <a:bodyPr>
            <a:normAutofit fontScale="90000"/>
          </a:bodyPr>
          <a:lstStyle/>
          <a:p>
            <a:r>
              <a:rPr lang="en-US" dirty="0"/>
              <a:t>1. ISP Edge &amp; External Connectivity (BGP Domain)</a:t>
            </a:r>
          </a:p>
        </p:txBody>
      </p:sp>
      <p:pic>
        <p:nvPicPr>
          <p:cNvPr id="5" name="Picture 4">
            <a:extLst>
              <a:ext uri="{FF2B5EF4-FFF2-40B4-BE49-F238E27FC236}">
                <a16:creationId xmlns:a16="http://schemas.microsoft.com/office/drawing/2014/main" id="{4BE6E175-9D3A-EC08-A831-4D114208881C}"/>
              </a:ext>
            </a:extLst>
          </p:cNvPr>
          <p:cNvPicPr>
            <a:picLocks noChangeAspect="1"/>
          </p:cNvPicPr>
          <p:nvPr/>
        </p:nvPicPr>
        <p:blipFill>
          <a:blip r:embed="rId2"/>
          <a:stretch>
            <a:fillRect/>
          </a:stretch>
        </p:blipFill>
        <p:spPr>
          <a:xfrm>
            <a:off x="457200" y="2638470"/>
            <a:ext cx="8196183" cy="3944892"/>
          </a:xfrm>
          <a:prstGeom prst="rect">
            <a:avLst/>
          </a:prstGeom>
        </p:spPr>
      </p:pic>
      <p:sp>
        <p:nvSpPr>
          <p:cNvPr id="6" name="Cloud 5">
            <a:extLst>
              <a:ext uri="{FF2B5EF4-FFF2-40B4-BE49-F238E27FC236}">
                <a16:creationId xmlns:a16="http://schemas.microsoft.com/office/drawing/2014/main" id="{CAD0F7F5-4D6F-16B7-74B1-1789DE4DE142}"/>
              </a:ext>
            </a:extLst>
          </p:cNvPr>
          <p:cNvSpPr/>
          <p:nvPr/>
        </p:nvSpPr>
        <p:spPr>
          <a:xfrm>
            <a:off x="2895600" y="3475854"/>
            <a:ext cx="3492500" cy="812800"/>
          </a:xfrm>
          <a:prstGeom prst="cloud">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329561B1-9E65-40E9-0CB8-FB4AA7573A63}"/>
              </a:ext>
            </a:extLst>
          </p:cNvPr>
          <p:cNvPicPr>
            <a:picLocks noChangeAspect="1"/>
          </p:cNvPicPr>
          <p:nvPr/>
        </p:nvPicPr>
        <p:blipFill>
          <a:blip r:embed="rId3"/>
          <a:stretch>
            <a:fillRect/>
          </a:stretch>
        </p:blipFill>
        <p:spPr>
          <a:xfrm>
            <a:off x="0" y="0"/>
            <a:ext cx="9144000" cy="817994"/>
          </a:xfrm>
          <a:prstGeom prst="rect">
            <a:avLst/>
          </a:prstGeom>
        </p:spPr>
      </p:pic>
    </p:spTree>
    <p:extLst>
      <p:ext uri="{BB962C8B-B14F-4D97-AF65-F5344CB8AC3E}">
        <p14:creationId xmlns:p14="http://schemas.microsoft.com/office/powerpoint/2010/main" val="3713988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A949CD8-2C12-F45E-C3EE-3FD9AA60FACC}"/>
              </a:ext>
            </a:extLst>
          </p:cNvPr>
          <p:cNvSpPr txBox="1"/>
          <p:nvPr/>
        </p:nvSpPr>
        <p:spPr>
          <a:xfrm>
            <a:off x="254000" y="817994"/>
            <a:ext cx="8102600" cy="3631763"/>
          </a:xfrm>
          <a:prstGeom prst="rect">
            <a:avLst/>
          </a:prstGeom>
          <a:noFill/>
        </p:spPr>
        <p:txBody>
          <a:bodyPr wrap="square" rtlCol="0">
            <a:spAutoFit/>
          </a:bodyPr>
          <a:lstStyle/>
          <a:p>
            <a:pPr algn="just"/>
            <a:r>
              <a:rPr lang="en-US" sz="2000" dirty="0"/>
              <a:t>The ISP edge is built for high availability. Two redundant edge routers peer with dual ISPs using </a:t>
            </a:r>
            <a:r>
              <a:rPr lang="en-US" sz="2000" b="1" dirty="0"/>
              <a:t>BGP</a:t>
            </a:r>
            <a:r>
              <a:rPr lang="en-US" sz="2000" dirty="0"/>
              <a:t>, ensuring uninterrupted Internet access.</a:t>
            </a:r>
            <a:br>
              <a:rPr lang="en-US" sz="2400" b="1" dirty="0"/>
            </a:br>
            <a:endParaRPr lang="en-US" sz="1000" b="1" dirty="0"/>
          </a:p>
          <a:p>
            <a:endParaRPr lang="en-US" sz="200" dirty="0"/>
          </a:p>
          <a:p>
            <a:pPr marL="285750" indent="-285750" algn="just">
              <a:buFont typeface="Arial" panose="020B0604020202020204" pitchFamily="34" charset="0"/>
              <a:buChar char="•"/>
            </a:pPr>
            <a:r>
              <a:rPr lang="en-US" sz="2000" dirty="0"/>
              <a:t>Dual ISPs for redundancy and traffic engineering. Each HQ pair peers with the local ISP via BGP.</a:t>
            </a:r>
          </a:p>
          <a:p>
            <a:pPr marL="285750" indent="-285750" algn="just">
              <a:buFont typeface="Arial" panose="020B0604020202020204" pitchFamily="34" charset="0"/>
              <a:buChar char="•"/>
            </a:pPr>
            <a:r>
              <a:rPr lang="en-US" sz="2000" dirty="0"/>
              <a:t>Each ISP advertises default route; ISPs receive default-route-advertise from each HQ peer (in your ISP configs).</a:t>
            </a:r>
          </a:p>
          <a:p>
            <a:pPr marL="285750" indent="-285750" algn="just">
              <a:buFont typeface="Arial" panose="020B0604020202020204" pitchFamily="34" charset="0"/>
              <a:buChar char="•"/>
            </a:pPr>
            <a:r>
              <a:rPr lang="en-US" sz="2000" dirty="0"/>
              <a:t>BGP sessions with prefix filtering to prevent route leaks.</a:t>
            </a:r>
          </a:p>
          <a:p>
            <a:pPr marL="285750" indent="-285750" algn="just">
              <a:buFont typeface="Arial" panose="020B0604020202020204" pitchFamily="34" charset="0"/>
              <a:buChar char="•"/>
            </a:pPr>
            <a:r>
              <a:rPr lang="en-US" sz="2000" dirty="0"/>
              <a:t>Failover and load-balancing configured to guarantee service continuity.</a:t>
            </a:r>
          </a:p>
          <a:p>
            <a:pPr marL="285750" indent="-285750" algn="just">
              <a:buFont typeface="Arial" panose="020B0604020202020204" pitchFamily="34" charset="0"/>
              <a:buChar char="•"/>
            </a:pPr>
            <a:r>
              <a:rPr lang="en-US" sz="2000" dirty="0"/>
              <a:t>This provides a strong external backbone for cloud access, remote branches, and public-facing services.</a:t>
            </a:r>
          </a:p>
          <a:p>
            <a:endParaRPr lang="en-US" dirty="0"/>
          </a:p>
        </p:txBody>
      </p:sp>
      <p:pic>
        <p:nvPicPr>
          <p:cNvPr id="2" name="Picture 1">
            <a:extLst>
              <a:ext uri="{FF2B5EF4-FFF2-40B4-BE49-F238E27FC236}">
                <a16:creationId xmlns:a16="http://schemas.microsoft.com/office/drawing/2014/main" id="{27A7D750-725B-1FBC-D295-81263D91EC3E}"/>
              </a:ext>
            </a:extLst>
          </p:cNvPr>
          <p:cNvPicPr>
            <a:picLocks noChangeAspect="1"/>
          </p:cNvPicPr>
          <p:nvPr/>
        </p:nvPicPr>
        <p:blipFill>
          <a:blip r:embed="rId2"/>
          <a:stretch>
            <a:fillRect/>
          </a:stretch>
        </p:blipFill>
        <p:spPr>
          <a:xfrm>
            <a:off x="0" y="0"/>
            <a:ext cx="9144000" cy="817994"/>
          </a:xfrm>
          <a:prstGeom prst="rect">
            <a:avLst/>
          </a:prstGeom>
        </p:spPr>
      </p:pic>
    </p:spTree>
    <p:extLst>
      <p:ext uri="{BB962C8B-B14F-4D97-AF65-F5344CB8AC3E}">
        <p14:creationId xmlns:p14="http://schemas.microsoft.com/office/powerpoint/2010/main" val="12534482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79147-7105-DB2D-A786-544A49AC6401}"/>
              </a:ext>
            </a:extLst>
          </p:cNvPr>
          <p:cNvSpPr>
            <a:spLocks noGrp="1"/>
          </p:cNvSpPr>
          <p:nvPr>
            <p:ph type="title"/>
          </p:nvPr>
        </p:nvSpPr>
        <p:spPr>
          <a:xfrm>
            <a:off x="536575" y="1018571"/>
            <a:ext cx="8229600" cy="1143000"/>
          </a:xfrm>
        </p:spPr>
        <p:txBody>
          <a:bodyPr>
            <a:normAutofit fontScale="90000"/>
          </a:bodyPr>
          <a:lstStyle/>
          <a:p>
            <a:r>
              <a:rPr lang="en-US" dirty="0"/>
              <a:t>VRRP &amp; High Availability (Active / Standby pairs)</a:t>
            </a:r>
          </a:p>
        </p:txBody>
      </p:sp>
      <p:pic>
        <p:nvPicPr>
          <p:cNvPr id="4" name="Picture 3">
            <a:extLst>
              <a:ext uri="{FF2B5EF4-FFF2-40B4-BE49-F238E27FC236}">
                <a16:creationId xmlns:a16="http://schemas.microsoft.com/office/drawing/2014/main" id="{3F143048-7337-6346-1EFC-AF8AADC59209}"/>
              </a:ext>
            </a:extLst>
          </p:cNvPr>
          <p:cNvPicPr>
            <a:picLocks noChangeAspect="1"/>
          </p:cNvPicPr>
          <p:nvPr/>
        </p:nvPicPr>
        <p:blipFill>
          <a:blip r:embed="rId2"/>
          <a:stretch>
            <a:fillRect/>
          </a:stretch>
        </p:blipFill>
        <p:spPr>
          <a:xfrm>
            <a:off x="615950" y="2549416"/>
            <a:ext cx="7912100" cy="1496884"/>
          </a:xfrm>
          <a:prstGeom prst="rect">
            <a:avLst/>
          </a:prstGeom>
        </p:spPr>
      </p:pic>
      <p:sp>
        <p:nvSpPr>
          <p:cNvPr id="5" name="Oval 4">
            <a:extLst>
              <a:ext uri="{FF2B5EF4-FFF2-40B4-BE49-F238E27FC236}">
                <a16:creationId xmlns:a16="http://schemas.microsoft.com/office/drawing/2014/main" id="{D21A4456-73A4-0A8B-DDF1-9E38D7066BA1}"/>
              </a:ext>
            </a:extLst>
          </p:cNvPr>
          <p:cNvSpPr/>
          <p:nvPr/>
        </p:nvSpPr>
        <p:spPr>
          <a:xfrm>
            <a:off x="536575" y="2549416"/>
            <a:ext cx="3568700" cy="1496884"/>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F4CB6F00-3467-41B2-9CF9-F7723B3E007C}"/>
              </a:ext>
            </a:extLst>
          </p:cNvPr>
          <p:cNvSpPr/>
          <p:nvPr/>
        </p:nvSpPr>
        <p:spPr>
          <a:xfrm>
            <a:off x="4778375" y="2549416"/>
            <a:ext cx="3568700" cy="1496884"/>
          </a:xfrm>
          <a:prstGeom prst="ellipse">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58AA9A9E-92AA-23B7-A2DA-330C393B2A78}"/>
              </a:ext>
            </a:extLst>
          </p:cNvPr>
          <p:cNvSpPr txBox="1"/>
          <p:nvPr/>
        </p:nvSpPr>
        <p:spPr>
          <a:xfrm>
            <a:off x="615950" y="4669204"/>
            <a:ext cx="8070850" cy="1600438"/>
          </a:xfrm>
          <a:prstGeom prst="rect">
            <a:avLst/>
          </a:prstGeom>
          <a:noFill/>
        </p:spPr>
        <p:txBody>
          <a:bodyPr wrap="square" rtlCol="0">
            <a:spAutoFit/>
          </a:bodyPr>
          <a:lstStyle/>
          <a:p>
            <a:pPr algn="just"/>
            <a:r>
              <a:rPr lang="en-US" sz="2000" dirty="0"/>
              <a:t>VRRP provides gateway redundancy for each site: VIP (10.10.254.5 for HQ1) is used by hosts.</a:t>
            </a:r>
          </a:p>
          <a:p>
            <a:pPr algn="just"/>
            <a:r>
              <a:rPr lang="en-US" sz="2000" dirty="0"/>
              <a:t>Higher priority on active device ensures preferred master; preempt-mode enabled to allow preferred router to regain master role after recovery.</a:t>
            </a:r>
          </a:p>
          <a:p>
            <a:endParaRPr lang="en-US" dirty="0"/>
          </a:p>
        </p:txBody>
      </p:sp>
      <p:pic>
        <p:nvPicPr>
          <p:cNvPr id="3" name="Picture 2">
            <a:extLst>
              <a:ext uri="{FF2B5EF4-FFF2-40B4-BE49-F238E27FC236}">
                <a16:creationId xmlns:a16="http://schemas.microsoft.com/office/drawing/2014/main" id="{8DF04BB3-8D63-7EFC-A88A-8F7498017FB3}"/>
              </a:ext>
            </a:extLst>
          </p:cNvPr>
          <p:cNvPicPr>
            <a:picLocks noChangeAspect="1"/>
          </p:cNvPicPr>
          <p:nvPr/>
        </p:nvPicPr>
        <p:blipFill>
          <a:blip r:embed="rId3"/>
          <a:stretch>
            <a:fillRect/>
          </a:stretch>
        </p:blipFill>
        <p:spPr>
          <a:xfrm>
            <a:off x="0" y="0"/>
            <a:ext cx="9144000" cy="817994"/>
          </a:xfrm>
          <a:prstGeom prst="rect">
            <a:avLst/>
          </a:prstGeom>
        </p:spPr>
      </p:pic>
    </p:spTree>
    <p:extLst>
      <p:ext uri="{BB962C8B-B14F-4D97-AF65-F5344CB8AC3E}">
        <p14:creationId xmlns:p14="http://schemas.microsoft.com/office/powerpoint/2010/main" val="36358041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3C7258-B159-5A1D-AA8E-AE4C5BFC0CEA}"/>
              </a:ext>
            </a:extLst>
          </p:cNvPr>
          <p:cNvSpPr>
            <a:spLocks noGrp="1"/>
          </p:cNvSpPr>
          <p:nvPr>
            <p:ph type="title"/>
          </p:nvPr>
        </p:nvSpPr>
        <p:spPr>
          <a:xfrm>
            <a:off x="371475" y="980497"/>
            <a:ext cx="8229600" cy="1143000"/>
          </a:xfrm>
        </p:spPr>
        <p:txBody>
          <a:bodyPr>
            <a:normAutofit fontScale="90000"/>
          </a:bodyPr>
          <a:lstStyle/>
          <a:p>
            <a:r>
              <a:rPr lang="en-US" dirty="0"/>
              <a:t>OSPF design — internal routing (HQs &amp; branches)</a:t>
            </a:r>
          </a:p>
        </p:txBody>
      </p:sp>
      <p:sp>
        <p:nvSpPr>
          <p:cNvPr id="3" name="TextBox 2">
            <a:extLst>
              <a:ext uri="{FF2B5EF4-FFF2-40B4-BE49-F238E27FC236}">
                <a16:creationId xmlns:a16="http://schemas.microsoft.com/office/drawing/2014/main" id="{1823EAD9-ABC0-37D3-8629-CA13F9EFFCBB}"/>
              </a:ext>
            </a:extLst>
          </p:cNvPr>
          <p:cNvSpPr txBox="1"/>
          <p:nvPr/>
        </p:nvSpPr>
        <p:spPr>
          <a:xfrm>
            <a:off x="533400" y="2286000"/>
            <a:ext cx="8229600" cy="2831544"/>
          </a:xfrm>
          <a:prstGeom prst="rect">
            <a:avLst/>
          </a:prstGeom>
          <a:noFill/>
        </p:spPr>
        <p:txBody>
          <a:bodyPr wrap="square" rtlCol="0">
            <a:spAutoFit/>
          </a:bodyPr>
          <a:lstStyle/>
          <a:p>
            <a:pPr marL="285750" indent="-285750" algn="just">
              <a:buFont typeface="Arial" panose="020B0604020202020204" pitchFamily="34" charset="0"/>
              <a:buChar char="•"/>
            </a:pPr>
            <a:r>
              <a:rPr lang="en-US" sz="2000" dirty="0"/>
              <a:t>OSPF process 1 area 0.0.0.0 used as backbone for all internal connectivity.</a:t>
            </a:r>
          </a:p>
          <a:p>
            <a:pPr marL="285750" indent="-285750" algn="just">
              <a:buFont typeface="Arial" panose="020B0604020202020204" pitchFamily="34" charset="0"/>
              <a:buChar char="•"/>
            </a:pPr>
            <a:r>
              <a:rPr lang="en-US" sz="2000" dirty="0"/>
              <a:t>Loopbacks advertise as host routes (used for router-IDs and reachability).</a:t>
            </a:r>
          </a:p>
          <a:p>
            <a:pPr marL="285750" indent="-285750" algn="just">
              <a:buFont typeface="Arial" panose="020B0604020202020204" pitchFamily="34" charset="0"/>
              <a:buChar char="•"/>
            </a:pPr>
            <a:r>
              <a:rPr lang="en-US" sz="2000" dirty="0"/>
              <a:t>OSPF is also used as the source of routes that are imported into BGP (import-route </a:t>
            </a:r>
            <a:r>
              <a:rPr lang="en-US" sz="2000" dirty="0" err="1"/>
              <a:t>bgp</a:t>
            </a:r>
            <a:r>
              <a:rPr lang="en-US" sz="2000" dirty="0"/>
              <a:t> in OSPF stanza or import-route </a:t>
            </a:r>
            <a:r>
              <a:rPr lang="en-US" sz="2000" dirty="0" err="1"/>
              <a:t>ospf</a:t>
            </a:r>
            <a:r>
              <a:rPr lang="en-US" sz="2000" dirty="0"/>
              <a:t> 1 in BGP stanza, depending on device type), enabling internal prefixes to reach the Internet via BGP.</a:t>
            </a:r>
            <a:endParaRPr lang="ar-EG" sz="2000" dirty="0"/>
          </a:p>
          <a:p>
            <a:pPr marL="285750" indent="-285750" algn="just">
              <a:buFont typeface="Arial" panose="020B0604020202020204" pitchFamily="34" charset="0"/>
              <a:buChar char="•"/>
            </a:pPr>
            <a:r>
              <a:rPr lang="en-US" sz="2000" dirty="0"/>
              <a:t>route redistribution both ways (BGP-&gt;OSPF, OSPF-&gt;BGP) and control with route filters to avoid loops.</a:t>
            </a:r>
          </a:p>
          <a:p>
            <a:endParaRPr lang="en-US" dirty="0"/>
          </a:p>
        </p:txBody>
      </p:sp>
      <p:pic>
        <p:nvPicPr>
          <p:cNvPr id="4" name="Picture 3">
            <a:extLst>
              <a:ext uri="{FF2B5EF4-FFF2-40B4-BE49-F238E27FC236}">
                <a16:creationId xmlns:a16="http://schemas.microsoft.com/office/drawing/2014/main" id="{5EF7EE54-6DD1-940A-235A-C5D3BFA4D11C}"/>
              </a:ext>
            </a:extLst>
          </p:cNvPr>
          <p:cNvPicPr>
            <a:picLocks noChangeAspect="1"/>
          </p:cNvPicPr>
          <p:nvPr/>
        </p:nvPicPr>
        <p:blipFill>
          <a:blip r:embed="rId2"/>
          <a:stretch>
            <a:fillRect/>
          </a:stretch>
        </p:blipFill>
        <p:spPr>
          <a:xfrm>
            <a:off x="0" y="0"/>
            <a:ext cx="9144000" cy="817994"/>
          </a:xfrm>
          <a:prstGeom prst="rect">
            <a:avLst/>
          </a:prstGeom>
        </p:spPr>
      </p:pic>
    </p:spTree>
    <p:extLst>
      <p:ext uri="{BB962C8B-B14F-4D97-AF65-F5344CB8AC3E}">
        <p14:creationId xmlns:p14="http://schemas.microsoft.com/office/powerpoint/2010/main" val="403497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926BBE-D01E-B611-BC06-D182CC3B1559}"/>
              </a:ext>
            </a:extLst>
          </p:cNvPr>
          <p:cNvSpPr>
            <a:spLocks noGrp="1"/>
          </p:cNvSpPr>
          <p:nvPr>
            <p:ph type="title"/>
          </p:nvPr>
        </p:nvSpPr>
        <p:spPr>
          <a:xfrm>
            <a:off x="457200" y="1056568"/>
            <a:ext cx="8229600" cy="1143000"/>
          </a:xfrm>
        </p:spPr>
        <p:txBody>
          <a:bodyPr>
            <a:normAutofit fontScale="90000"/>
          </a:bodyPr>
          <a:lstStyle/>
          <a:p>
            <a:r>
              <a:rPr lang="en-US" dirty="0"/>
              <a:t>Server Farm / DMZ / Data Center segment</a:t>
            </a:r>
          </a:p>
        </p:txBody>
      </p:sp>
      <p:pic>
        <p:nvPicPr>
          <p:cNvPr id="4" name="Picture 3">
            <a:extLst>
              <a:ext uri="{FF2B5EF4-FFF2-40B4-BE49-F238E27FC236}">
                <a16:creationId xmlns:a16="http://schemas.microsoft.com/office/drawing/2014/main" id="{667CFA92-6B95-6F28-C311-AEABCD9A385C}"/>
              </a:ext>
            </a:extLst>
          </p:cNvPr>
          <p:cNvPicPr>
            <a:picLocks noChangeAspect="1"/>
          </p:cNvPicPr>
          <p:nvPr/>
        </p:nvPicPr>
        <p:blipFill>
          <a:blip r:embed="rId2"/>
          <a:stretch>
            <a:fillRect/>
          </a:stretch>
        </p:blipFill>
        <p:spPr>
          <a:xfrm>
            <a:off x="5125646" y="2659311"/>
            <a:ext cx="2989654" cy="1539373"/>
          </a:xfrm>
          <a:prstGeom prst="rect">
            <a:avLst/>
          </a:prstGeom>
        </p:spPr>
      </p:pic>
      <p:pic>
        <p:nvPicPr>
          <p:cNvPr id="6" name="Picture 5">
            <a:extLst>
              <a:ext uri="{FF2B5EF4-FFF2-40B4-BE49-F238E27FC236}">
                <a16:creationId xmlns:a16="http://schemas.microsoft.com/office/drawing/2014/main" id="{3D6B79C9-D647-ACC4-7E42-9A96C2269989}"/>
              </a:ext>
            </a:extLst>
          </p:cNvPr>
          <p:cNvPicPr>
            <a:picLocks noChangeAspect="1"/>
          </p:cNvPicPr>
          <p:nvPr/>
        </p:nvPicPr>
        <p:blipFill>
          <a:blip r:embed="rId3"/>
          <a:stretch>
            <a:fillRect/>
          </a:stretch>
        </p:blipFill>
        <p:spPr>
          <a:xfrm>
            <a:off x="1028700" y="2548726"/>
            <a:ext cx="2799156" cy="1851820"/>
          </a:xfrm>
          <a:prstGeom prst="rect">
            <a:avLst/>
          </a:prstGeom>
        </p:spPr>
      </p:pic>
      <p:sp>
        <p:nvSpPr>
          <p:cNvPr id="10" name="TextBox 9">
            <a:extLst>
              <a:ext uri="{FF2B5EF4-FFF2-40B4-BE49-F238E27FC236}">
                <a16:creationId xmlns:a16="http://schemas.microsoft.com/office/drawing/2014/main" id="{569FC1F2-8634-261C-4C14-43AF518340A0}"/>
              </a:ext>
            </a:extLst>
          </p:cNvPr>
          <p:cNvSpPr txBox="1"/>
          <p:nvPr/>
        </p:nvSpPr>
        <p:spPr>
          <a:xfrm>
            <a:off x="457200" y="5034461"/>
            <a:ext cx="8229600" cy="1015663"/>
          </a:xfrm>
          <a:prstGeom prst="rect">
            <a:avLst/>
          </a:prstGeom>
          <a:noFill/>
        </p:spPr>
        <p:txBody>
          <a:bodyPr wrap="square">
            <a:spAutoFit/>
          </a:bodyPr>
          <a:lstStyle/>
          <a:p>
            <a:pPr marL="285750" indent="-285750" algn="just">
              <a:buFont typeface="Arial" panose="020B0604020202020204" pitchFamily="34" charset="0"/>
              <a:buChar char="•"/>
            </a:pPr>
            <a:r>
              <a:rPr lang="en-US" sz="2000" dirty="0"/>
              <a:t>Multi</a:t>
            </a:r>
            <a:r>
              <a:rPr lang="ar-EG" sz="2000" dirty="0"/>
              <a:t> </a:t>
            </a:r>
            <a:r>
              <a:rPr lang="en-US" sz="2000" dirty="0"/>
              <a:t> server &amp; Services: DNS, HTTP, &amp; FTP.</a:t>
            </a:r>
          </a:p>
          <a:p>
            <a:pPr marL="285750" indent="-285750" algn="just">
              <a:buFont typeface="Arial" panose="020B0604020202020204" pitchFamily="34" charset="0"/>
              <a:buChar char="•"/>
            </a:pPr>
            <a:r>
              <a:rPr lang="en-US" sz="2000" dirty="0"/>
              <a:t>Firewall enforces north-south and east-west policies.</a:t>
            </a:r>
          </a:p>
          <a:p>
            <a:pPr marL="285750" indent="-285750" algn="just">
              <a:buFont typeface="Arial" panose="020B0604020202020204" pitchFamily="34" charset="0"/>
              <a:buChar char="•"/>
            </a:pPr>
            <a:r>
              <a:rPr lang="en-US" sz="2000" dirty="0"/>
              <a:t>Core router provides L3 gateway and route distribution for server subnets</a:t>
            </a:r>
            <a:r>
              <a:rPr lang="en-US" dirty="0"/>
              <a:t>.</a:t>
            </a:r>
          </a:p>
        </p:txBody>
      </p:sp>
      <p:pic>
        <p:nvPicPr>
          <p:cNvPr id="3" name="Picture 2">
            <a:extLst>
              <a:ext uri="{FF2B5EF4-FFF2-40B4-BE49-F238E27FC236}">
                <a16:creationId xmlns:a16="http://schemas.microsoft.com/office/drawing/2014/main" id="{C8369888-5512-B2ED-C4A7-2C90C1741E95}"/>
              </a:ext>
            </a:extLst>
          </p:cNvPr>
          <p:cNvPicPr>
            <a:picLocks noChangeAspect="1"/>
          </p:cNvPicPr>
          <p:nvPr/>
        </p:nvPicPr>
        <p:blipFill>
          <a:blip r:embed="rId4"/>
          <a:stretch>
            <a:fillRect/>
          </a:stretch>
        </p:blipFill>
        <p:spPr>
          <a:xfrm>
            <a:off x="0" y="0"/>
            <a:ext cx="9144000" cy="817994"/>
          </a:xfrm>
          <a:prstGeom prst="rect">
            <a:avLst/>
          </a:prstGeom>
        </p:spPr>
      </p:pic>
    </p:spTree>
    <p:extLst>
      <p:ext uri="{BB962C8B-B14F-4D97-AF65-F5344CB8AC3E}">
        <p14:creationId xmlns:p14="http://schemas.microsoft.com/office/powerpoint/2010/main" val="42485403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48769-ADD6-800E-197A-1855D5B94102}"/>
              </a:ext>
            </a:extLst>
          </p:cNvPr>
          <p:cNvSpPr>
            <a:spLocks noGrp="1"/>
          </p:cNvSpPr>
          <p:nvPr>
            <p:ph type="title"/>
          </p:nvPr>
        </p:nvSpPr>
        <p:spPr>
          <a:xfrm>
            <a:off x="457200" y="1036952"/>
            <a:ext cx="8229600" cy="1143000"/>
          </a:xfrm>
        </p:spPr>
        <p:txBody>
          <a:bodyPr>
            <a:normAutofit fontScale="90000"/>
          </a:bodyPr>
          <a:lstStyle/>
          <a:p>
            <a:r>
              <a:rPr lang="en-US" dirty="0"/>
              <a:t>Security &amp; AAA (device management, SSH, TACACS/AAA)</a:t>
            </a:r>
          </a:p>
        </p:txBody>
      </p:sp>
      <p:sp>
        <p:nvSpPr>
          <p:cNvPr id="4" name="TextBox 3">
            <a:extLst>
              <a:ext uri="{FF2B5EF4-FFF2-40B4-BE49-F238E27FC236}">
                <a16:creationId xmlns:a16="http://schemas.microsoft.com/office/drawing/2014/main" id="{8967D92F-FA2B-759D-23AE-A7D9667AF35C}"/>
              </a:ext>
            </a:extLst>
          </p:cNvPr>
          <p:cNvSpPr txBox="1"/>
          <p:nvPr/>
        </p:nvSpPr>
        <p:spPr>
          <a:xfrm>
            <a:off x="457200" y="2513211"/>
            <a:ext cx="8229600" cy="1200329"/>
          </a:xfrm>
          <a:prstGeom prst="rect">
            <a:avLst/>
          </a:prstGeom>
          <a:noFill/>
        </p:spPr>
        <p:txBody>
          <a:bodyPr wrap="square">
            <a:spAutoFit/>
          </a:bodyPr>
          <a:lstStyle/>
          <a:p>
            <a:pPr marL="285750" indent="-285750" algn="just">
              <a:buFont typeface="Arial" panose="020B0604020202020204" pitchFamily="34" charset="0"/>
              <a:buChar char="•"/>
            </a:pPr>
            <a:r>
              <a:rPr lang="en-US" dirty="0"/>
              <a:t>Centralized local-user config (your configs use local-user admin with cipher password) for production, replace local accounts with TACACS+/RADIUS.</a:t>
            </a:r>
          </a:p>
          <a:p>
            <a:pPr marL="285750" indent="-285750" algn="just">
              <a:buFont typeface="Arial" panose="020B0604020202020204" pitchFamily="34" charset="0"/>
              <a:buChar char="•"/>
            </a:pPr>
            <a:r>
              <a:rPr lang="en-US" dirty="0"/>
              <a:t>Use SSH (telnet on Huawei) and disable insecure protocols.</a:t>
            </a:r>
          </a:p>
          <a:p>
            <a:pPr marL="285750" indent="-285750" algn="just">
              <a:buFont typeface="Arial" panose="020B0604020202020204" pitchFamily="34" charset="0"/>
              <a:buChar char="•"/>
            </a:pPr>
            <a:r>
              <a:rPr lang="en-US" dirty="0"/>
              <a:t>Restrict vty access to AAA and limit privilege levels.</a:t>
            </a:r>
          </a:p>
        </p:txBody>
      </p:sp>
      <p:pic>
        <p:nvPicPr>
          <p:cNvPr id="3" name="Picture 2">
            <a:extLst>
              <a:ext uri="{FF2B5EF4-FFF2-40B4-BE49-F238E27FC236}">
                <a16:creationId xmlns:a16="http://schemas.microsoft.com/office/drawing/2014/main" id="{11642513-7DB2-FC4A-9ED1-B82F87713143}"/>
              </a:ext>
            </a:extLst>
          </p:cNvPr>
          <p:cNvPicPr>
            <a:picLocks noChangeAspect="1"/>
          </p:cNvPicPr>
          <p:nvPr/>
        </p:nvPicPr>
        <p:blipFill>
          <a:blip r:embed="rId2"/>
          <a:stretch>
            <a:fillRect/>
          </a:stretch>
        </p:blipFill>
        <p:spPr>
          <a:xfrm>
            <a:off x="0" y="0"/>
            <a:ext cx="9144000" cy="817994"/>
          </a:xfrm>
          <a:prstGeom prst="rect">
            <a:avLst/>
          </a:prstGeom>
        </p:spPr>
      </p:pic>
    </p:spTree>
    <p:extLst>
      <p:ext uri="{BB962C8B-B14F-4D97-AF65-F5344CB8AC3E}">
        <p14:creationId xmlns:p14="http://schemas.microsoft.com/office/powerpoint/2010/main" val="25148452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DE27DC-66FB-251A-A0CD-9EB1B3A25D0C}"/>
              </a:ext>
            </a:extLst>
          </p:cNvPr>
          <p:cNvSpPr>
            <a:spLocks noGrp="1"/>
          </p:cNvSpPr>
          <p:nvPr>
            <p:ph type="title"/>
          </p:nvPr>
        </p:nvSpPr>
        <p:spPr>
          <a:xfrm>
            <a:off x="457200" y="817994"/>
            <a:ext cx="8229600" cy="1143000"/>
          </a:xfrm>
        </p:spPr>
        <p:txBody>
          <a:bodyPr>
            <a:normAutofit/>
          </a:bodyPr>
          <a:lstStyle/>
          <a:p>
            <a:r>
              <a:rPr lang="en-US" sz="4000" dirty="0"/>
              <a:t>VLAN Architecture and Segmentation </a:t>
            </a:r>
          </a:p>
        </p:txBody>
      </p:sp>
      <p:sp>
        <p:nvSpPr>
          <p:cNvPr id="4" name="TextBox 3">
            <a:extLst>
              <a:ext uri="{FF2B5EF4-FFF2-40B4-BE49-F238E27FC236}">
                <a16:creationId xmlns:a16="http://schemas.microsoft.com/office/drawing/2014/main" id="{0DE00782-6814-54CB-A2A3-74C50E526946}"/>
              </a:ext>
            </a:extLst>
          </p:cNvPr>
          <p:cNvSpPr txBox="1"/>
          <p:nvPr/>
        </p:nvSpPr>
        <p:spPr>
          <a:xfrm>
            <a:off x="457200" y="1779687"/>
            <a:ext cx="8229600" cy="5078313"/>
          </a:xfrm>
          <a:prstGeom prst="rect">
            <a:avLst/>
          </a:prstGeom>
          <a:noFill/>
        </p:spPr>
        <p:txBody>
          <a:bodyPr wrap="square">
            <a:spAutoFit/>
          </a:bodyPr>
          <a:lstStyle/>
          <a:p>
            <a:r>
              <a:rPr lang="en-US" sz="1800" b="1" i="0" u="none" strike="noStrike" baseline="0" dirty="0">
                <a:solidFill>
                  <a:srgbClr val="000000"/>
                </a:solidFill>
                <a:latin typeface="Georgia" panose="02040502050405020303" pitchFamily="18" charset="0"/>
              </a:rPr>
              <a:t>Egypt Headquarters (Country A) VLANs: </a:t>
            </a:r>
            <a:endParaRPr lang="en-US" sz="1800" b="0" i="0" u="none" strike="noStrike" baseline="0" dirty="0">
              <a:solidFill>
                <a:srgbClr val="000000"/>
              </a:solidFill>
              <a:latin typeface="Georgia" panose="02040502050405020303" pitchFamily="18" charset="0"/>
            </a:endParaRPr>
          </a:p>
          <a:p>
            <a:pPr marL="285750" indent="-285750">
              <a:buFont typeface="Arial" panose="020B0604020202020204" pitchFamily="34" charset="0"/>
              <a:buChar char="•"/>
            </a:pPr>
            <a:r>
              <a:rPr lang="fr-FR" sz="1800" b="0" i="0" u="none" strike="noStrike" baseline="0" dirty="0">
                <a:solidFill>
                  <a:srgbClr val="000000"/>
                </a:solidFill>
                <a:latin typeface="Georgia" panose="02040502050405020303" pitchFamily="18" charset="0"/>
              </a:rPr>
              <a:t>VLAN 10: Server/Infrastructure (10.10.10.0/24) </a:t>
            </a:r>
          </a:p>
          <a:p>
            <a:pPr marL="285750" indent="-285750">
              <a:buFont typeface="Arial" panose="020B0604020202020204" pitchFamily="34" charset="0"/>
              <a:buChar char="•"/>
            </a:pPr>
            <a:r>
              <a:rPr lang="en-US" sz="1800" b="0" i="0" u="none" strike="noStrike" baseline="0" dirty="0">
                <a:solidFill>
                  <a:srgbClr val="000000"/>
                </a:solidFill>
                <a:latin typeface="Georgia" panose="02040502050405020303" pitchFamily="18" charset="0"/>
              </a:rPr>
              <a:t>VLAN 11: User Devices/Workstations (10.10.11.0/24) </a:t>
            </a:r>
          </a:p>
          <a:p>
            <a:pPr marL="285750" indent="-285750">
              <a:buFont typeface="Arial" panose="020B0604020202020204" pitchFamily="34" charset="0"/>
              <a:buChar char="•"/>
            </a:pPr>
            <a:r>
              <a:rPr lang="en-US" sz="1800" b="0" i="0" u="none" strike="noStrike" baseline="0" dirty="0">
                <a:solidFill>
                  <a:srgbClr val="000000"/>
                </a:solidFill>
                <a:latin typeface="Georgia" panose="02040502050405020303" pitchFamily="18" charset="0"/>
              </a:rPr>
              <a:t>VLAN 12: Branch 1 Network (10.10.12.0/24) </a:t>
            </a:r>
          </a:p>
          <a:p>
            <a:pPr marL="285750" indent="-285750">
              <a:buFont typeface="Arial" panose="020B0604020202020204" pitchFamily="34" charset="0"/>
              <a:buChar char="•"/>
            </a:pPr>
            <a:r>
              <a:rPr lang="en-US" sz="1800" b="0" i="0" u="none" strike="noStrike" baseline="0" dirty="0">
                <a:solidFill>
                  <a:srgbClr val="000000"/>
                </a:solidFill>
                <a:latin typeface="Georgia" panose="02040502050405020303" pitchFamily="18" charset="0"/>
              </a:rPr>
              <a:t>VLAN 13: Branch 2 Network (10.10.13.0/24) </a:t>
            </a:r>
          </a:p>
          <a:p>
            <a:pPr marL="285750" indent="-285750">
              <a:buFont typeface="Arial" panose="020B0604020202020204" pitchFamily="34" charset="0"/>
              <a:buChar char="•"/>
            </a:pPr>
            <a:r>
              <a:rPr lang="en-US" sz="1800" b="0" i="0" u="none" strike="noStrike" baseline="0" dirty="0">
                <a:solidFill>
                  <a:srgbClr val="000000"/>
                </a:solidFill>
                <a:latin typeface="Georgia" panose="02040502050405020303" pitchFamily="18" charset="0"/>
              </a:rPr>
              <a:t>VLAN 252: Management (Firewall Link) (10.10.252.0/24) </a:t>
            </a:r>
          </a:p>
          <a:p>
            <a:pPr marL="285750" indent="-285750">
              <a:buFont typeface="Arial" panose="020B0604020202020204" pitchFamily="34" charset="0"/>
              <a:buChar char="•"/>
            </a:pPr>
            <a:r>
              <a:rPr lang="en-US" sz="1800" b="0" i="0" u="none" strike="noStrike" baseline="0" dirty="0">
                <a:solidFill>
                  <a:srgbClr val="000000"/>
                </a:solidFill>
                <a:latin typeface="Georgia" panose="02040502050405020303" pitchFamily="18" charset="0"/>
              </a:rPr>
              <a:t>VLAN 253: Management (Firewall Link) (10.10.253.0/24) </a:t>
            </a:r>
          </a:p>
          <a:p>
            <a:pPr marL="285750" indent="-285750">
              <a:buFont typeface="Arial" panose="020B0604020202020204" pitchFamily="34" charset="0"/>
              <a:buChar char="•"/>
            </a:pPr>
            <a:r>
              <a:rPr lang="fr-FR" sz="1800" b="0" i="0" u="none" strike="noStrike" baseline="0" dirty="0">
                <a:solidFill>
                  <a:srgbClr val="000000"/>
                </a:solidFill>
                <a:latin typeface="Georgia" panose="02040502050405020303" pitchFamily="18" charset="0"/>
              </a:rPr>
              <a:t>VLAN 254: </a:t>
            </a:r>
            <a:r>
              <a:rPr lang="fr-FR" sz="1800" b="0" i="0" u="none" strike="noStrike" baseline="0" dirty="0" err="1">
                <a:solidFill>
                  <a:srgbClr val="000000"/>
                </a:solidFill>
                <a:latin typeface="Georgia" panose="02040502050405020303" pitchFamily="18" charset="0"/>
              </a:rPr>
              <a:t>Core</a:t>
            </a:r>
            <a:r>
              <a:rPr lang="fr-FR" sz="1800" b="0" i="0" u="none" strike="noStrike" baseline="0" dirty="0">
                <a:solidFill>
                  <a:srgbClr val="000000"/>
                </a:solidFill>
                <a:latin typeface="Georgia" panose="02040502050405020303" pitchFamily="18" charset="0"/>
              </a:rPr>
              <a:t> Infrastructure (10.10.254.0/24) </a:t>
            </a:r>
          </a:p>
          <a:p>
            <a:endParaRPr lang="en-US" sz="1800" b="0" i="0" u="none" strike="noStrike" baseline="0" dirty="0">
              <a:solidFill>
                <a:srgbClr val="000000"/>
              </a:solidFill>
              <a:latin typeface="Georgia" panose="02040502050405020303" pitchFamily="18" charset="0"/>
            </a:endParaRPr>
          </a:p>
          <a:p>
            <a:r>
              <a:rPr lang="en-US" sz="1800" b="1" i="0" u="none" strike="noStrike" baseline="0" dirty="0">
                <a:solidFill>
                  <a:srgbClr val="000000"/>
                </a:solidFill>
                <a:latin typeface="Georgia" panose="02040502050405020303" pitchFamily="18" charset="0"/>
              </a:rPr>
              <a:t>Gulf Headquarters (Country B) VLANs: </a:t>
            </a:r>
            <a:endParaRPr lang="en-US" sz="1800" b="0" i="0" u="none" strike="noStrike" baseline="0" dirty="0">
              <a:solidFill>
                <a:srgbClr val="000000"/>
              </a:solidFill>
              <a:latin typeface="Georgia" panose="02040502050405020303" pitchFamily="18" charset="0"/>
            </a:endParaRPr>
          </a:p>
          <a:p>
            <a:pPr marL="285750" indent="-285750">
              <a:buFont typeface="Arial" panose="020B0604020202020204" pitchFamily="34" charset="0"/>
              <a:buChar char="•"/>
            </a:pPr>
            <a:r>
              <a:rPr lang="en-US" sz="1800" b="0" i="0" u="none" strike="noStrike" baseline="0" dirty="0">
                <a:solidFill>
                  <a:srgbClr val="000000"/>
                </a:solidFill>
                <a:latin typeface="Georgia" panose="02040502050405020303" pitchFamily="18" charset="0"/>
              </a:rPr>
              <a:t>VLAN 11.11.10.0/24: Server/Infrastructure </a:t>
            </a:r>
            <a:endParaRPr lang="en-US" dirty="0"/>
          </a:p>
          <a:p>
            <a:pPr marL="285750" indent="-285750">
              <a:buFont typeface="Arial" panose="020B0604020202020204" pitchFamily="34" charset="0"/>
              <a:buChar char="•"/>
            </a:pPr>
            <a:r>
              <a:rPr lang="en-US" dirty="0"/>
              <a:t>VLAN 11.10.11.0/24: User Devices/Workstations </a:t>
            </a:r>
          </a:p>
          <a:p>
            <a:pPr marL="285750" indent="-285750">
              <a:buFont typeface="Arial" panose="020B0604020202020204" pitchFamily="34" charset="0"/>
              <a:buChar char="•"/>
            </a:pPr>
            <a:r>
              <a:rPr lang="en-US" dirty="0"/>
              <a:t>VLAN 11.10.12.0/24: Branch 1 Network </a:t>
            </a:r>
          </a:p>
          <a:p>
            <a:pPr marL="285750" indent="-285750">
              <a:buFont typeface="Arial" panose="020B0604020202020204" pitchFamily="34" charset="0"/>
              <a:buChar char="•"/>
            </a:pPr>
            <a:r>
              <a:rPr lang="en-US" dirty="0"/>
              <a:t>VLAN 11.10.13.0/24: Branch 2 Network </a:t>
            </a:r>
          </a:p>
          <a:p>
            <a:pPr marL="285750" indent="-285750">
              <a:buFont typeface="Arial" panose="020B0604020202020204" pitchFamily="34" charset="0"/>
              <a:buChar char="•"/>
            </a:pPr>
            <a:r>
              <a:rPr lang="en-US" dirty="0"/>
              <a:t>VLAN 11.10.252.0/24: Management (Firewall Link) </a:t>
            </a:r>
          </a:p>
          <a:p>
            <a:pPr marL="285750" indent="-285750">
              <a:buFont typeface="Arial" panose="020B0604020202020204" pitchFamily="34" charset="0"/>
              <a:buChar char="•"/>
            </a:pPr>
            <a:r>
              <a:rPr lang="en-US" dirty="0"/>
              <a:t>VLAN 11.10.253.0/24: Management (Firewall Link) </a:t>
            </a:r>
          </a:p>
          <a:p>
            <a:pPr marL="285750" indent="-285750">
              <a:buFont typeface="Arial" panose="020B0604020202020204" pitchFamily="34" charset="0"/>
              <a:buChar char="•"/>
            </a:pPr>
            <a:r>
              <a:rPr lang="en-US" dirty="0"/>
              <a:t>VLAN 11.10.254.0/24: Core Infrastructure </a:t>
            </a:r>
          </a:p>
          <a:p>
            <a:endParaRPr lang="en-US" sz="1800" b="0" i="0" u="none" strike="noStrike" baseline="0" dirty="0">
              <a:solidFill>
                <a:srgbClr val="000000"/>
              </a:solidFill>
              <a:latin typeface="Georgia" panose="02040502050405020303" pitchFamily="18" charset="0"/>
            </a:endParaRPr>
          </a:p>
        </p:txBody>
      </p:sp>
      <p:pic>
        <p:nvPicPr>
          <p:cNvPr id="3" name="Picture 2">
            <a:extLst>
              <a:ext uri="{FF2B5EF4-FFF2-40B4-BE49-F238E27FC236}">
                <a16:creationId xmlns:a16="http://schemas.microsoft.com/office/drawing/2014/main" id="{1939F68C-E7AA-FD30-2470-A44C9A8E7743}"/>
              </a:ext>
            </a:extLst>
          </p:cNvPr>
          <p:cNvPicPr>
            <a:picLocks noChangeAspect="1"/>
          </p:cNvPicPr>
          <p:nvPr/>
        </p:nvPicPr>
        <p:blipFill>
          <a:blip r:embed="rId2"/>
          <a:stretch>
            <a:fillRect/>
          </a:stretch>
        </p:blipFill>
        <p:spPr>
          <a:xfrm>
            <a:off x="0" y="0"/>
            <a:ext cx="9144000" cy="817994"/>
          </a:xfrm>
          <a:prstGeom prst="rect">
            <a:avLst/>
          </a:prstGeom>
        </p:spPr>
      </p:pic>
    </p:spTree>
    <p:extLst>
      <p:ext uri="{BB962C8B-B14F-4D97-AF65-F5344CB8AC3E}">
        <p14:creationId xmlns:p14="http://schemas.microsoft.com/office/powerpoint/2010/main" val="28341558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CBCF36-CA5A-DF65-A4CB-483A2F27A8DF}"/>
              </a:ext>
            </a:extLst>
          </p:cNvPr>
          <p:cNvSpPr>
            <a:spLocks noGrp="1"/>
          </p:cNvSpPr>
          <p:nvPr>
            <p:ph type="title"/>
          </p:nvPr>
        </p:nvSpPr>
        <p:spPr>
          <a:xfrm>
            <a:off x="457200" y="1046163"/>
            <a:ext cx="8229600" cy="1143000"/>
          </a:xfrm>
        </p:spPr>
        <p:txBody>
          <a:bodyPr>
            <a:normAutofit fontScale="90000"/>
          </a:bodyPr>
          <a:lstStyle/>
          <a:p>
            <a:r>
              <a:rPr lang="en-US" dirty="0"/>
              <a:t>Monitoring &amp; NOC (visibility, logging, alarms)</a:t>
            </a:r>
          </a:p>
        </p:txBody>
      </p:sp>
      <p:sp>
        <p:nvSpPr>
          <p:cNvPr id="4" name="TextBox 3">
            <a:extLst>
              <a:ext uri="{FF2B5EF4-FFF2-40B4-BE49-F238E27FC236}">
                <a16:creationId xmlns:a16="http://schemas.microsoft.com/office/drawing/2014/main" id="{9E7F7B25-8865-687C-212A-B949A10AB1E6}"/>
              </a:ext>
            </a:extLst>
          </p:cNvPr>
          <p:cNvSpPr txBox="1"/>
          <p:nvPr/>
        </p:nvSpPr>
        <p:spPr>
          <a:xfrm>
            <a:off x="457200" y="2417332"/>
            <a:ext cx="8229600" cy="4247317"/>
          </a:xfrm>
          <a:prstGeom prst="rect">
            <a:avLst/>
          </a:prstGeom>
          <a:noFill/>
        </p:spPr>
        <p:txBody>
          <a:bodyPr wrap="square">
            <a:spAutoFit/>
          </a:bodyPr>
          <a:lstStyle/>
          <a:p>
            <a:r>
              <a:rPr lang="en-US" b="1" dirty="0"/>
              <a:t>SNMP (Simple Network Management Protocol): </a:t>
            </a:r>
            <a:endParaRPr lang="en-US" dirty="0"/>
          </a:p>
          <a:p>
            <a:pPr marL="285750" indent="-285750">
              <a:buFont typeface="Arial" panose="020B0604020202020204" pitchFamily="34" charset="0"/>
              <a:buChar char="•"/>
            </a:pPr>
            <a:r>
              <a:rPr lang="en-US" dirty="0"/>
              <a:t>Enable SNMP v3 on all network devices for secure monitoring </a:t>
            </a:r>
          </a:p>
          <a:p>
            <a:pPr marL="285750" indent="-285750">
              <a:buFont typeface="Arial" panose="020B0604020202020204" pitchFamily="34" charset="0"/>
              <a:buChar char="•"/>
            </a:pPr>
            <a:r>
              <a:rPr lang="en-US" dirty="0"/>
              <a:t>Community string: Private (for SNMPv2c during transition) </a:t>
            </a:r>
          </a:p>
          <a:p>
            <a:pPr marL="285750" indent="-285750">
              <a:buFont typeface="Arial" panose="020B0604020202020204" pitchFamily="34" charset="0"/>
              <a:buChar char="•"/>
            </a:pPr>
            <a:r>
              <a:rPr lang="fr-FR" dirty="0"/>
              <a:t>Trap destinations: Central NOC </a:t>
            </a:r>
            <a:r>
              <a:rPr lang="fr-FR" dirty="0" err="1"/>
              <a:t>syslog</a:t>
            </a:r>
            <a:r>
              <a:rPr lang="fr-FR" dirty="0"/>
              <a:t> server </a:t>
            </a:r>
          </a:p>
          <a:p>
            <a:r>
              <a:rPr lang="en-US" b="1" dirty="0"/>
              <a:t>NetFlow/</a:t>
            </a:r>
            <a:r>
              <a:rPr lang="en-US" b="1" dirty="0" err="1"/>
              <a:t>sFlow</a:t>
            </a:r>
            <a:r>
              <a:rPr lang="en-US" b="1" dirty="0"/>
              <a:t>: </a:t>
            </a:r>
            <a:r>
              <a:rPr lang="en-US" dirty="0"/>
              <a:t>	</a:t>
            </a:r>
          </a:p>
          <a:p>
            <a:pPr marL="285750" indent="-285750">
              <a:buFont typeface="Arial" panose="020B0604020202020204" pitchFamily="34" charset="0"/>
              <a:buChar char="•"/>
            </a:pPr>
            <a:r>
              <a:rPr lang="en-US" dirty="0"/>
              <a:t>Enable on core routers and switches for traffic analysis </a:t>
            </a:r>
          </a:p>
          <a:p>
            <a:pPr marL="285750" indent="-285750">
              <a:buFont typeface="Arial" panose="020B0604020202020204" pitchFamily="34" charset="0"/>
              <a:buChar char="•"/>
            </a:pPr>
            <a:r>
              <a:rPr lang="en-US" dirty="0"/>
              <a:t>Flow export to centralized analytics platform </a:t>
            </a:r>
          </a:p>
          <a:p>
            <a:pPr marL="285750" indent="-285750">
              <a:buFont typeface="Arial" panose="020B0604020202020204" pitchFamily="34" charset="0"/>
              <a:buChar char="•"/>
            </a:pPr>
            <a:r>
              <a:rPr lang="en-US" dirty="0"/>
              <a:t>5-tuple flow export for application behavior analysis </a:t>
            </a:r>
          </a:p>
          <a:p>
            <a:r>
              <a:rPr lang="en-US" b="1" dirty="0"/>
              <a:t>Syslog Aggregation: </a:t>
            </a:r>
            <a:endParaRPr lang="en-US" dirty="0"/>
          </a:p>
          <a:p>
            <a:pPr marL="285750" indent="-285750">
              <a:buFont typeface="Arial" panose="020B0604020202020204" pitchFamily="34" charset="0"/>
              <a:buChar char="•"/>
            </a:pPr>
            <a:r>
              <a:rPr lang="en-US" dirty="0"/>
              <a:t>Centralize all device logs to syslog server </a:t>
            </a:r>
          </a:p>
          <a:p>
            <a:pPr marL="285750" indent="-285750">
              <a:buFont typeface="Arial" panose="020B0604020202020204" pitchFamily="34" charset="0"/>
              <a:buChar char="•"/>
            </a:pPr>
            <a:r>
              <a:rPr lang="en-US" dirty="0"/>
              <a:t>Configure severity levels: Emergency, Alert, Critical, Error, Warning, Notice, Info, Debug </a:t>
            </a:r>
          </a:p>
          <a:p>
            <a:pPr marL="285750" indent="-285750">
              <a:buFont typeface="Arial" panose="020B0604020202020204" pitchFamily="34" charset="0"/>
              <a:buChar char="•"/>
            </a:pPr>
            <a:r>
              <a:rPr lang="en-US" dirty="0"/>
              <a:t>Archive logs for compliance and forensic analysis </a:t>
            </a:r>
          </a:p>
          <a:p>
            <a:r>
              <a:rPr lang="en-US" dirty="0"/>
              <a:t>	</a:t>
            </a:r>
          </a:p>
          <a:p>
            <a:pPr marL="285750" indent="-285750">
              <a:buFont typeface="Arial" panose="020B0604020202020204" pitchFamily="34" charset="0"/>
              <a:buChar char="•"/>
            </a:pPr>
            <a:endParaRPr lang="en-US" dirty="0"/>
          </a:p>
        </p:txBody>
      </p:sp>
      <p:pic>
        <p:nvPicPr>
          <p:cNvPr id="3" name="Picture 2">
            <a:extLst>
              <a:ext uri="{FF2B5EF4-FFF2-40B4-BE49-F238E27FC236}">
                <a16:creationId xmlns:a16="http://schemas.microsoft.com/office/drawing/2014/main" id="{33A45A72-416C-FDE4-731E-D9383DDF108D}"/>
              </a:ext>
            </a:extLst>
          </p:cNvPr>
          <p:cNvPicPr>
            <a:picLocks noChangeAspect="1"/>
          </p:cNvPicPr>
          <p:nvPr/>
        </p:nvPicPr>
        <p:blipFill>
          <a:blip r:embed="rId2"/>
          <a:stretch>
            <a:fillRect/>
          </a:stretch>
        </p:blipFill>
        <p:spPr>
          <a:xfrm>
            <a:off x="0" y="0"/>
            <a:ext cx="9144000" cy="817994"/>
          </a:xfrm>
          <a:prstGeom prst="rect">
            <a:avLst/>
          </a:prstGeom>
        </p:spPr>
      </p:pic>
    </p:spTree>
    <p:extLst>
      <p:ext uri="{BB962C8B-B14F-4D97-AF65-F5344CB8AC3E}">
        <p14:creationId xmlns:p14="http://schemas.microsoft.com/office/powerpoint/2010/main" val="31147575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1049</TotalTime>
  <Words>728</Words>
  <Application>Microsoft Office PowerPoint</Application>
  <PresentationFormat>On-screen Show (4:3)</PresentationFormat>
  <Paragraphs>66</Paragraphs>
  <Slides>13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Calibri</vt:lpstr>
      <vt:lpstr>Georgia</vt:lpstr>
      <vt:lpstr>Inter</vt:lpstr>
      <vt:lpstr>Petrona Bold</vt:lpstr>
      <vt:lpstr>Office Theme</vt:lpstr>
      <vt:lpstr>Enterprise Network Design for Multi-National Company </vt:lpstr>
      <vt:lpstr>Business Overview</vt:lpstr>
      <vt:lpstr>Diagram</vt:lpstr>
      <vt:lpstr>PowerPoint Presentation</vt:lpstr>
      <vt:lpstr>Topology</vt:lpstr>
      <vt:lpstr>1. ISP Edge &amp; External Connectivity (BGP Domain)</vt:lpstr>
      <vt:lpstr>PowerPoint Presentation</vt:lpstr>
      <vt:lpstr>VRRP &amp; High Availability (Active / Standby pairs)</vt:lpstr>
      <vt:lpstr>OSPF design — internal routing (HQs &amp; branches)</vt:lpstr>
      <vt:lpstr>Server Farm / DMZ / Data Center segment</vt:lpstr>
      <vt:lpstr>Security &amp; AAA (device management, SSH, TACACS/AAA)</vt:lpstr>
      <vt:lpstr>VLAN Architecture and Segmentation </vt:lpstr>
      <vt:lpstr>Monitoring &amp; NOC (visibility, logging, alarms)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Mahmoud Safwat</cp:lastModifiedBy>
  <cp:revision>6</cp:revision>
  <dcterms:created xsi:type="dcterms:W3CDTF">2013-01-27T09:14:16Z</dcterms:created>
  <dcterms:modified xsi:type="dcterms:W3CDTF">2025-11-30T17:32:51Z</dcterms:modified>
  <cp:category/>
</cp:coreProperties>
</file>